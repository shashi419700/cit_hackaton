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Libre Baskerville" charset="1" panose="02000000000000000000"/>
      <p:regular r:id="rId13"/>
    </p:embeddedFont>
    <p:embeddedFont>
      <p:font typeface="DM Sans" charset="1" panose="00000000000000000000"/>
      <p:regular r:id="rId14"/>
    </p:embeddedFont>
    <p:embeddedFont>
      <p:font typeface="DM Sans Bold" charset="1" panose="00000000000000000000"/>
      <p:regular r:id="rId15"/>
    </p:embeddedFont>
    <p:embeddedFont>
      <p:font typeface="Noto Sans" charset="1" panose="020B0502040504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sv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27.png" Type="http://schemas.openxmlformats.org/officeDocument/2006/relationships/image"/><Relationship Id="rId15" Target="../media/image28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51245"/>
            <a:ext cx="18278475" cy="10287000"/>
            <a:chOff x="0" y="0"/>
            <a:chExt cx="18278475" cy="1028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78475" cy="10287000"/>
            </a:xfrm>
            <a:custGeom>
              <a:avLst/>
              <a:gdLst/>
              <a:ahLst/>
              <a:cxnLst/>
              <a:rect r="r" b="b" t="t" l="l"/>
              <a:pathLst>
                <a:path h="10287000" w="18278475">
                  <a:moveTo>
                    <a:pt x="0" y="0"/>
                  </a:moveTo>
                  <a:lnTo>
                    <a:pt x="0" y="10287000"/>
                  </a:lnTo>
                  <a:lnTo>
                    <a:pt x="18278475" y="10287000"/>
                  </a:lnTo>
                  <a:lnTo>
                    <a:pt x="18278475" y="0"/>
                  </a:lnTo>
                  <a:close/>
                </a:path>
              </a:pathLst>
            </a:custGeom>
            <a:solidFill>
              <a:srgbClr val="7A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22" cy="514350"/>
            <a:chOff x="0" y="0"/>
            <a:chExt cx="2870962" cy="6858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92258" y="3543748"/>
            <a:ext cx="133350" cy="133350"/>
            <a:chOff x="0" y="0"/>
            <a:chExt cx="133350" cy="1333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92258" y="4896298"/>
            <a:ext cx="133350" cy="133350"/>
            <a:chOff x="0" y="0"/>
            <a:chExt cx="133350" cy="1333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92258" y="6248848"/>
            <a:ext cx="133350" cy="133350"/>
            <a:chOff x="0" y="0"/>
            <a:chExt cx="133350" cy="1333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92258" y="7601398"/>
            <a:ext cx="133350" cy="133350"/>
            <a:chOff x="0" y="0"/>
            <a:chExt cx="133350" cy="1333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3350" cy="133350"/>
            </a:xfrm>
            <a:custGeom>
              <a:avLst/>
              <a:gdLst/>
              <a:ahLst/>
              <a:cxnLst/>
              <a:rect r="r" b="b" t="t" l="l"/>
              <a:pathLst>
                <a:path h="133350" w="133350">
                  <a:moveTo>
                    <a:pt x="133350" y="66675"/>
                  </a:moveTo>
                  <a:cubicBezTo>
                    <a:pt x="133350" y="70993"/>
                    <a:pt x="132969" y="75438"/>
                    <a:pt x="132080" y="79629"/>
                  </a:cubicBezTo>
                  <a:cubicBezTo>
                    <a:pt x="131191" y="83820"/>
                    <a:pt x="129921" y="88138"/>
                    <a:pt x="128270" y="92075"/>
                  </a:cubicBezTo>
                  <a:cubicBezTo>
                    <a:pt x="126619" y="96012"/>
                    <a:pt x="124587" y="99949"/>
                    <a:pt x="122047" y="103632"/>
                  </a:cubicBezTo>
                  <a:cubicBezTo>
                    <a:pt x="119507" y="107315"/>
                    <a:pt x="116840" y="110617"/>
                    <a:pt x="113792" y="113792"/>
                  </a:cubicBezTo>
                  <a:cubicBezTo>
                    <a:pt x="110744" y="116967"/>
                    <a:pt x="107315" y="119634"/>
                    <a:pt x="103632" y="122047"/>
                  </a:cubicBezTo>
                  <a:cubicBezTo>
                    <a:pt x="99949" y="124460"/>
                    <a:pt x="96139" y="126492"/>
                    <a:pt x="92075" y="128270"/>
                  </a:cubicBezTo>
                  <a:cubicBezTo>
                    <a:pt x="88011" y="130048"/>
                    <a:pt x="83820" y="131191"/>
                    <a:pt x="79629" y="132080"/>
                  </a:cubicBezTo>
                  <a:cubicBezTo>
                    <a:pt x="75438" y="132969"/>
                    <a:pt x="70993" y="133350"/>
                    <a:pt x="66675" y="133350"/>
                  </a:cubicBezTo>
                  <a:cubicBezTo>
                    <a:pt x="62357" y="133350"/>
                    <a:pt x="57912" y="132969"/>
                    <a:pt x="53721" y="132080"/>
                  </a:cubicBezTo>
                  <a:cubicBezTo>
                    <a:pt x="49530" y="131191"/>
                    <a:pt x="45212" y="129921"/>
                    <a:pt x="41275" y="128270"/>
                  </a:cubicBezTo>
                  <a:cubicBezTo>
                    <a:pt x="37338" y="126619"/>
                    <a:pt x="33401" y="124587"/>
                    <a:pt x="29718" y="122047"/>
                  </a:cubicBezTo>
                  <a:cubicBezTo>
                    <a:pt x="26035" y="119507"/>
                    <a:pt x="22733" y="116840"/>
                    <a:pt x="19558" y="113792"/>
                  </a:cubicBezTo>
                  <a:cubicBezTo>
                    <a:pt x="16383" y="110744"/>
                    <a:pt x="13716" y="107315"/>
                    <a:pt x="11303" y="103632"/>
                  </a:cubicBezTo>
                  <a:cubicBezTo>
                    <a:pt x="8890" y="99949"/>
                    <a:pt x="6731" y="96266"/>
                    <a:pt x="5080" y="92202"/>
                  </a:cubicBezTo>
                  <a:cubicBezTo>
                    <a:pt x="3429" y="88138"/>
                    <a:pt x="2159" y="83947"/>
                    <a:pt x="1270" y="79629"/>
                  </a:cubicBezTo>
                  <a:cubicBezTo>
                    <a:pt x="381" y="75311"/>
                    <a:pt x="0" y="70993"/>
                    <a:pt x="0" y="66675"/>
                  </a:cubicBezTo>
                  <a:cubicBezTo>
                    <a:pt x="0" y="62357"/>
                    <a:pt x="381" y="57912"/>
                    <a:pt x="1270" y="53721"/>
                  </a:cubicBezTo>
                  <a:cubicBezTo>
                    <a:pt x="2159" y="49530"/>
                    <a:pt x="3429" y="45212"/>
                    <a:pt x="5080" y="41275"/>
                  </a:cubicBezTo>
                  <a:cubicBezTo>
                    <a:pt x="6731" y="37338"/>
                    <a:pt x="8763" y="33401"/>
                    <a:pt x="11303" y="29718"/>
                  </a:cubicBezTo>
                  <a:cubicBezTo>
                    <a:pt x="13843" y="26035"/>
                    <a:pt x="16510" y="22733"/>
                    <a:pt x="19558" y="19558"/>
                  </a:cubicBezTo>
                  <a:cubicBezTo>
                    <a:pt x="22606" y="16383"/>
                    <a:pt x="26035" y="13716"/>
                    <a:pt x="29718" y="11303"/>
                  </a:cubicBezTo>
                  <a:cubicBezTo>
                    <a:pt x="33401" y="8890"/>
                    <a:pt x="37211" y="6858"/>
                    <a:pt x="41275" y="5080"/>
                  </a:cubicBezTo>
                  <a:cubicBezTo>
                    <a:pt x="45339" y="3302"/>
                    <a:pt x="49530" y="2159"/>
                    <a:pt x="53721" y="1270"/>
                  </a:cubicBezTo>
                  <a:cubicBezTo>
                    <a:pt x="57912" y="381"/>
                    <a:pt x="62357" y="0"/>
                    <a:pt x="66675" y="0"/>
                  </a:cubicBezTo>
                  <a:cubicBezTo>
                    <a:pt x="70993" y="0"/>
                    <a:pt x="75438" y="381"/>
                    <a:pt x="79629" y="1270"/>
                  </a:cubicBezTo>
                  <a:cubicBezTo>
                    <a:pt x="83820" y="2159"/>
                    <a:pt x="88138" y="3429"/>
                    <a:pt x="92075" y="5080"/>
                  </a:cubicBezTo>
                  <a:cubicBezTo>
                    <a:pt x="96012" y="6731"/>
                    <a:pt x="99949" y="8763"/>
                    <a:pt x="103632" y="11303"/>
                  </a:cubicBezTo>
                  <a:cubicBezTo>
                    <a:pt x="107315" y="13843"/>
                    <a:pt x="110617" y="16510"/>
                    <a:pt x="113792" y="19558"/>
                  </a:cubicBezTo>
                  <a:cubicBezTo>
                    <a:pt x="116967" y="22606"/>
                    <a:pt x="119634" y="26035"/>
                    <a:pt x="122047" y="29718"/>
                  </a:cubicBezTo>
                  <a:cubicBezTo>
                    <a:pt x="124460" y="33401"/>
                    <a:pt x="126492" y="37211"/>
                    <a:pt x="128270" y="41275"/>
                  </a:cubicBezTo>
                  <a:cubicBezTo>
                    <a:pt x="130048" y="45339"/>
                    <a:pt x="131191" y="49530"/>
                    <a:pt x="132080" y="53721"/>
                  </a:cubicBezTo>
                  <a:cubicBezTo>
                    <a:pt x="132969" y="57912"/>
                    <a:pt x="133350" y="62357"/>
                    <a:pt x="133350" y="666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7781982" y="6268955"/>
            <a:ext cx="9582255" cy="1491453"/>
          </a:xfrm>
          <a:custGeom>
            <a:avLst/>
            <a:gdLst/>
            <a:ahLst/>
            <a:cxnLst/>
            <a:rect r="r" b="b" t="t" l="l"/>
            <a:pathLst>
              <a:path h="1491453" w="9582255">
                <a:moveTo>
                  <a:pt x="0" y="0"/>
                </a:moveTo>
                <a:lnTo>
                  <a:pt x="9582255" y="0"/>
                </a:lnTo>
                <a:lnTo>
                  <a:pt x="9582255" y="1491453"/>
                </a:lnTo>
                <a:lnTo>
                  <a:pt x="0" y="14914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855020" y="2257082"/>
            <a:ext cx="9582255" cy="1491453"/>
          </a:xfrm>
          <a:custGeom>
            <a:avLst/>
            <a:gdLst/>
            <a:ahLst/>
            <a:cxnLst/>
            <a:rect r="r" b="b" t="t" l="l"/>
            <a:pathLst>
              <a:path h="1491453" w="9582255">
                <a:moveTo>
                  <a:pt x="0" y="0"/>
                </a:moveTo>
                <a:lnTo>
                  <a:pt x="9582255" y="0"/>
                </a:lnTo>
                <a:lnTo>
                  <a:pt x="9582255" y="1491453"/>
                </a:lnTo>
                <a:lnTo>
                  <a:pt x="0" y="14914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5116175" y="9600457"/>
            <a:ext cx="3086233" cy="600818"/>
            <a:chOff x="0" y="0"/>
            <a:chExt cx="3086227" cy="60081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86094" cy="600831"/>
            </a:xfrm>
            <a:custGeom>
              <a:avLst/>
              <a:gdLst/>
              <a:ahLst/>
              <a:cxnLst/>
              <a:rect r="r" b="b" t="t" l="l"/>
              <a:pathLst>
                <a:path h="600831" w="3086094">
                  <a:moveTo>
                    <a:pt x="0" y="0"/>
                  </a:moveTo>
                  <a:lnTo>
                    <a:pt x="0" y="600831"/>
                  </a:lnTo>
                  <a:lnTo>
                    <a:pt x="3086094" y="600831"/>
                  </a:lnTo>
                  <a:lnTo>
                    <a:pt x="3086094" y="0"/>
                  </a:lnTo>
                  <a:close/>
                </a:path>
              </a:pathLst>
            </a:custGeom>
            <a:solidFill>
              <a:srgbClr val="7D0000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387210" y="390544"/>
            <a:ext cx="8738416" cy="1257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4"/>
              </a:lnSpc>
            </a:pPr>
            <a:r>
              <a:rPr lang="en-US" sz="4061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EMERGENCY RESPONSE OPTMIZER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86084" y="1925593"/>
            <a:ext cx="123244" cy="99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14"/>
              </a:lnSpc>
            </a:pPr>
            <a:r>
              <a:rPr lang="en-US" sz="359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55001" y="4244102"/>
            <a:ext cx="8652786" cy="1627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268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 smart platform designed to save lives through rapid accident detection, real-time location sharing, and seamless coordination between emergency services.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143284" y="6498850"/>
            <a:ext cx="2276418" cy="546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7"/>
              </a:lnSpc>
            </a:pPr>
            <a:r>
              <a:rPr lang="en-US" sz="2749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Team Name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53134" y="7048119"/>
            <a:ext cx="75076" cy="502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5"/>
              </a:lnSpc>
            </a:pPr>
            <a:r>
              <a:rPr lang="en-US" sz="2186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112062" y="7162419"/>
            <a:ext cx="2359352" cy="38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sz="2186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Semicolon</a:t>
            </a:r>
            <a:r>
              <a:rPr lang="en-US" sz="21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86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Troops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143284" y="2297068"/>
            <a:ext cx="1687430" cy="625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6"/>
              </a:lnSpc>
            </a:pPr>
            <a:r>
              <a:rPr lang="en-US" sz="359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Theme: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983037" y="2911145"/>
            <a:ext cx="81715" cy="41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2"/>
              </a:lnSpc>
            </a:pPr>
            <a:r>
              <a:rPr lang="en-US" sz="23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085296" y="2911145"/>
            <a:ext cx="2525197" cy="406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2"/>
              </a:lnSpc>
            </a:pPr>
            <a:r>
              <a:rPr lang="en-US" sz="23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Health</a:t>
            </a:r>
            <a:r>
              <a:rPr lang="en-US" sz="238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3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&amp;</a:t>
            </a:r>
            <a:r>
              <a:rPr lang="en-US" sz="238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38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Wellness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11258" y="2341140"/>
            <a:ext cx="4342438" cy="79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0"/>
              </a:lnSpc>
            </a:pPr>
            <a:r>
              <a:rPr lang="en-US" b="true" sz="418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TEAM MEMBERS: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1023" y="3140069"/>
            <a:ext cx="101346" cy="702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63"/>
              </a:lnSpc>
            </a:pPr>
            <a:r>
              <a:rPr lang="en-US" b="true" sz="328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1023" y="5968994"/>
            <a:ext cx="2887866" cy="578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2"/>
              </a:lnSpc>
            </a:pPr>
            <a:r>
              <a:rPr lang="en-US" b="true" sz="328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SUMIT KUMAR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1023" y="4616444"/>
            <a:ext cx="3062645" cy="564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2"/>
              </a:lnSpc>
            </a:pPr>
            <a:r>
              <a:rPr lang="en-US" b="true" sz="328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ASHISH KUMAR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1023" y="7321544"/>
            <a:ext cx="3038118" cy="564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2"/>
              </a:lnSpc>
            </a:pPr>
            <a:r>
              <a:rPr lang="en-US" b="true" sz="328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ASLAM ANSARI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20435" y="3263894"/>
            <a:ext cx="6432309" cy="578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2"/>
              </a:lnSpc>
            </a:pPr>
            <a:r>
              <a:rPr lang="en-US" b="true" sz="3287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SHASHIKUMAR(TEAM LEADER)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24244" y="432273"/>
            <a:ext cx="7275671" cy="1398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24"/>
              </a:lnSpc>
            </a:pPr>
            <a:r>
              <a:rPr lang="en-US" b="true" sz="347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DR. SHYAMA PRASAD MUKHERJEE UNIVERSITY, RANCHI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0853" y="0"/>
            <a:ext cx="18288000" cy="10287000"/>
            <a:chOff x="0" y="0"/>
            <a:chExt cx="18288000" cy="1028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287000"/>
            </a:xfrm>
            <a:custGeom>
              <a:avLst/>
              <a:gdLst/>
              <a:ahLst/>
              <a:cxnLst/>
              <a:rect r="r" b="b" t="t" l="l"/>
              <a:pathLst>
                <a:path h="102870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7A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22" cy="514350"/>
            <a:chOff x="0" y="0"/>
            <a:chExt cx="2870962" cy="6858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90635" y="2807094"/>
            <a:ext cx="5430022" cy="3225155"/>
          </a:xfrm>
          <a:custGeom>
            <a:avLst/>
            <a:gdLst/>
            <a:ahLst/>
            <a:cxnLst/>
            <a:rect r="r" b="b" t="t" l="l"/>
            <a:pathLst>
              <a:path h="3225155" w="5430022">
                <a:moveTo>
                  <a:pt x="0" y="0"/>
                </a:moveTo>
                <a:lnTo>
                  <a:pt x="5430022" y="0"/>
                </a:lnTo>
                <a:lnTo>
                  <a:pt x="5430022" y="3225155"/>
                </a:lnTo>
                <a:lnTo>
                  <a:pt x="0" y="32251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90635" y="6150664"/>
            <a:ext cx="5429593" cy="2782243"/>
          </a:xfrm>
          <a:custGeom>
            <a:avLst/>
            <a:gdLst/>
            <a:ahLst/>
            <a:cxnLst/>
            <a:rect r="r" b="b" t="t" l="l"/>
            <a:pathLst>
              <a:path h="2782243" w="5429593">
                <a:moveTo>
                  <a:pt x="0" y="0"/>
                </a:moveTo>
                <a:lnTo>
                  <a:pt x="5429593" y="0"/>
                </a:lnTo>
                <a:lnTo>
                  <a:pt x="5429593" y="2782243"/>
                </a:lnTo>
                <a:lnTo>
                  <a:pt x="0" y="27822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92238" y="2134343"/>
            <a:ext cx="7042995" cy="66675"/>
            <a:chOff x="0" y="0"/>
            <a:chExt cx="7042988" cy="666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43034" cy="66675"/>
            </a:xfrm>
            <a:custGeom>
              <a:avLst/>
              <a:gdLst/>
              <a:ahLst/>
              <a:cxnLst/>
              <a:rect r="r" b="b" t="t" l="l"/>
              <a:pathLst>
                <a:path h="66675" w="7043034">
                  <a:moveTo>
                    <a:pt x="0" y="0"/>
                  </a:moveTo>
                  <a:lnTo>
                    <a:pt x="7043034" y="0"/>
                  </a:lnTo>
                  <a:lnTo>
                    <a:pt x="7043034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6419602" y="2807094"/>
            <a:ext cx="5430031" cy="3225155"/>
          </a:xfrm>
          <a:custGeom>
            <a:avLst/>
            <a:gdLst/>
            <a:ahLst/>
            <a:cxnLst/>
            <a:rect r="r" b="b" t="t" l="l"/>
            <a:pathLst>
              <a:path h="3225155" w="5430031">
                <a:moveTo>
                  <a:pt x="0" y="0"/>
                </a:moveTo>
                <a:lnTo>
                  <a:pt x="5430031" y="0"/>
                </a:lnTo>
                <a:lnTo>
                  <a:pt x="5430031" y="3225155"/>
                </a:lnTo>
                <a:lnTo>
                  <a:pt x="0" y="32251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419602" y="6150664"/>
            <a:ext cx="5429593" cy="2782243"/>
          </a:xfrm>
          <a:custGeom>
            <a:avLst/>
            <a:gdLst/>
            <a:ahLst/>
            <a:cxnLst/>
            <a:rect r="r" b="b" t="t" l="l"/>
            <a:pathLst>
              <a:path h="2782243" w="5429593">
                <a:moveTo>
                  <a:pt x="0" y="0"/>
                </a:moveTo>
                <a:lnTo>
                  <a:pt x="5429593" y="0"/>
                </a:lnTo>
                <a:lnTo>
                  <a:pt x="5429593" y="2782243"/>
                </a:lnTo>
                <a:lnTo>
                  <a:pt x="0" y="27822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5116175" y="9548670"/>
            <a:ext cx="3086481" cy="652605"/>
            <a:chOff x="0" y="0"/>
            <a:chExt cx="3086481" cy="65260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86100" cy="652651"/>
            </a:xfrm>
            <a:custGeom>
              <a:avLst/>
              <a:gdLst/>
              <a:ahLst/>
              <a:cxnLst/>
              <a:rect r="r" b="b" t="t" l="l"/>
              <a:pathLst>
                <a:path h="652651" w="3086100">
                  <a:moveTo>
                    <a:pt x="0" y="0"/>
                  </a:moveTo>
                  <a:lnTo>
                    <a:pt x="0" y="652651"/>
                  </a:lnTo>
                  <a:lnTo>
                    <a:pt x="3086100" y="652651"/>
                  </a:lnTo>
                  <a:lnTo>
                    <a:pt x="3086100" y="0"/>
                  </a:lnTo>
                  <a:close/>
                </a:path>
              </a:pathLst>
            </a:custGeom>
            <a:solidFill>
              <a:srgbClr val="7A0000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92238" y="1309821"/>
            <a:ext cx="7183774" cy="959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6"/>
              </a:lnSpc>
            </a:pPr>
            <a:r>
              <a:rPr lang="en-US" sz="5562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Problem Statement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28159" y="3189418"/>
            <a:ext cx="3010776" cy="838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2749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Real-time routing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10727" y="3957733"/>
            <a:ext cx="75076" cy="6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7"/>
              </a:lnSpc>
            </a:pPr>
            <a:r>
              <a:rPr lang="en-US" sz="2186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8159" y="6409163"/>
            <a:ext cx="3939183" cy="545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0"/>
              </a:lnSpc>
            </a:pPr>
            <a:r>
              <a:rPr lang="en-US" sz="2749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API routes ambulance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22462" y="6963166"/>
            <a:ext cx="75076" cy="51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4"/>
              </a:lnSpc>
            </a:pPr>
            <a:r>
              <a:rPr lang="en-US" sz="2186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57117" y="6485363"/>
            <a:ext cx="4445051" cy="1793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49"/>
              </a:lnSpc>
            </a:pPr>
            <a:r>
              <a:rPr lang="en-US" sz="2749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Bed availability</a:t>
            </a:r>
          </a:p>
          <a:p>
            <a:pPr algn="just">
              <a:lnSpc>
                <a:spcPts val="3525"/>
              </a:lnSpc>
            </a:pPr>
            <a:r>
              <a:rPr lang="en-US" sz="2186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Real-time hospital bed available in india varies significantly by location, hospital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957117" y="3065593"/>
            <a:ext cx="2985254" cy="1126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0"/>
              </a:lnSpc>
            </a:pPr>
            <a:r>
              <a:rPr lang="en-US" sz="2749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Combinig traffic</a:t>
            </a:r>
          </a:p>
          <a:p>
            <a:pPr algn="l">
              <a:lnSpc>
                <a:spcPts val="4630"/>
              </a:lnSpc>
            </a:pPr>
            <a:r>
              <a:rPr lang="en-US" sz="2749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data+ simulated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404003" y="3619595"/>
            <a:ext cx="75076" cy="51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4"/>
              </a:lnSpc>
            </a:pPr>
            <a:r>
              <a:rPr lang="en-US" sz="2186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483352" y="3619595"/>
            <a:ext cx="75076" cy="51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4"/>
              </a:lnSpc>
            </a:pPr>
            <a:r>
              <a:rPr lang="en-US" sz="2186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28159" y="7039366"/>
            <a:ext cx="3907688" cy="132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186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Google Maps API to identify the fastest route for emergency vechicles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28159" y="4138708"/>
            <a:ext cx="4427639" cy="1771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186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enables dynamic, instantaneou adjustments to travel paths based on live traffic, accidents,weather, and road clousers.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57117" y="4357169"/>
            <a:ext cx="4475471" cy="1334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6"/>
              </a:lnSpc>
            </a:pPr>
            <a:r>
              <a:rPr lang="en-US" sz="2206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multi-sensor data fusion techniques for freeeway traffic your paragraph text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7108" y="-31223"/>
            <a:ext cx="18288000" cy="10287000"/>
            <a:chOff x="0" y="0"/>
            <a:chExt cx="18288000" cy="1028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287000"/>
            </a:xfrm>
            <a:custGeom>
              <a:avLst/>
              <a:gdLst/>
              <a:ahLst/>
              <a:cxnLst/>
              <a:rect r="r" b="b" t="t" l="l"/>
              <a:pathLst>
                <a:path h="102870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7A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22" cy="514350"/>
            <a:chOff x="0" y="0"/>
            <a:chExt cx="2870962" cy="6858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2238" y="3734248"/>
            <a:ext cx="1675400" cy="1035996"/>
            <a:chOff x="0" y="0"/>
            <a:chExt cx="2233866" cy="1381328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233803" cy="1381379"/>
            </a:xfrm>
            <a:custGeom>
              <a:avLst/>
              <a:gdLst/>
              <a:ahLst/>
              <a:cxnLst/>
              <a:rect r="r" b="b" t="t" l="l"/>
              <a:pathLst>
                <a:path h="1381379" w="2233803">
                  <a:moveTo>
                    <a:pt x="0" y="0"/>
                  </a:moveTo>
                  <a:lnTo>
                    <a:pt x="2233803" y="0"/>
                  </a:lnTo>
                  <a:lnTo>
                    <a:pt x="2233803" y="1381379"/>
                  </a:lnTo>
                  <a:lnTo>
                    <a:pt x="0" y="1381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07" r="-2" b="-27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156597" y="3734248"/>
            <a:ext cx="1675400" cy="1035996"/>
            <a:chOff x="0" y="0"/>
            <a:chExt cx="2233866" cy="1381328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2233930" cy="1381379"/>
            </a:xfrm>
            <a:custGeom>
              <a:avLst/>
              <a:gdLst/>
              <a:ahLst/>
              <a:cxnLst/>
              <a:rect r="r" b="b" t="t" l="l"/>
              <a:pathLst>
                <a:path h="1381379" w="2233930">
                  <a:moveTo>
                    <a:pt x="0" y="0"/>
                  </a:moveTo>
                  <a:lnTo>
                    <a:pt x="2233930" y="0"/>
                  </a:lnTo>
                  <a:lnTo>
                    <a:pt x="2233930" y="1381379"/>
                  </a:lnTo>
                  <a:lnTo>
                    <a:pt x="0" y="1381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7" r="2" b="-27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321108" y="3734248"/>
            <a:ext cx="1675400" cy="1035996"/>
            <a:chOff x="0" y="0"/>
            <a:chExt cx="2233866" cy="1381328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2233803" cy="1381379"/>
            </a:xfrm>
            <a:custGeom>
              <a:avLst/>
              <a:gdLst/>
              <a:ahLst/>
              <a:cxnLst/>
              <a:rect r="r" b="b" t="t" l="l"/>
              <a:pathLst>
                <a:path h="1381379" w="2233803">
                  <a:moveTo>
                    <a:pt x="0" y="0"/>
                  </a:moveTo>
                  <a:lnTo>
                    <a:pt x="2233803" y="0"/>
                  </a:lnTo>
                  <a:lnTo>
                    <a:pt x="2233803" y="1381379"/>
                  </a:lnTo>
                  <a:lnTo>
                    <a:pt x="0" y="1381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7" r="-2" b="-27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485609" y="3734248"/>
            <a:ext cx="1675400" cy="1035996"/>
            <a:chOff x="0" y="0"/>
            <a:chExt cx="2233866" cy="1381328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2233930" cy="1381379"/>
            </a:xfrm>
            <a:custGeom>
              <a:avLst/>
              <a:gdLst/>
              <a:ahLst/>
              <a:cxnLst/>
              <a:rect r="r" b="b" t="t" l="l"/>
              <a:pathLst>
                <a:path h="1381379" w="2233930">
                  <a:moveTo>
                    <a:pt x="0" y="0"/>
                  </a:moveTo>
                  <a:lnTo>
                    <a:pt x="2233930" y="0"/>
                  </a:lnTo>
                  <a:lnTo>
                    <a:pt x="2233930" y="1381379"/>
                  </a:lnTo>
                  <a:lnTo>
                    <a:pt x="0" y="13813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07" r="2" b="-279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116175" y="9404747"/>
            <a:ext cx="3085586" cy="769144"/>
            <a:chOff x="0" y="0"/>
            <a:chExt cx="3085592" cy="7691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85596" cy="769118"/>
            </a:xfrm>
            <a:custGeom>
              <a:avLst/>
              <a:gdLst/>
              <a:ahLst/>
              <a:cxnLst/>
              <a:rect r="r" b="b" t="t" l="l"/>
              <a:pathLst>
                <a:path h="769118" w="3085596">
                  <a:moveTo>
                    <a:pt x="0" y="0"/>
                  </a:moveTo>
                  <a:lnTo>
                    <a:pt x="0" y="769118"/>
                  </a:lnTo>
                  <a:lnTo>
                    <a:pt x="3085596" y="769118"/>
                  </a:lnTo>
                  <a:lnTo>
                    <a:pt x="3085596" y="0"/>
                  </a:lnTo>
                  <a:close/>
                </a:path>
              </a:pathLst>
            </a:custGeom>
            <a:solidFill>
              <a:srgbClr val="7A0000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92238" y="2154422"/>
            <a:ext cx="7471972" cy="959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6"/>
              </a:lnSpc>
            </a:pPr>
            <a:r>
              <a:rPr lang="en-US" sz="5562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Technical Approach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2238" y="5102752"/>
            <a:ext cx="3717903" cy="2733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2749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Mobile App (React Native)</a:t>
            </a:r>
          </a:p>
          <a:p>
            <a:pPr algn="l">
              <a:lnSpc>
                <a:spcPts val="3525"/>
              </a:lnSpc>
            </a:pPr>
            <a:r>
              <a:rPr lang="en-US" sz="21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Accident detectionvia sensors (speed, accelerometer), live location tracking using Google Maps.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85264" y="5871067"/>
            <a:ext cx="75076" cy="6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7"/>
              </a:lnSpc>
            </a:pPr>
            <a:r>
              <a:rPr lang="en-US" sz="21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156597" y="5102752"/>
            <a:ext cx="3568837" cy="2733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2749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Backend (Node.js &amp; Express)</a:t>
            </a:r>
          </a:p>
          <a:p>
            <a:pPr algn="l">
              <a:lnSpc>
                <a:spcPts val="3525"/>
              </a:lnSpc>
            </a:pPr>
            <a:r>
              <a:rPr lang="en-US" sz="21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Handles SOSalerts,stores data in MongoDB, finds nearest hospital and ambulance.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99545" y="5871067"/>
            <a:ext cx="75076" cy="6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7"/>
              </a:lnSpc>
            </a:pPr>
            <a:r>
              <a:rPr lang="en-US" sz="21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21108" y="4978927"/>
            <a:ext cx="3391824" cy="555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0"/>
              </a:lnSpc>
            </a:pPr>
            <a:r>
              <a:rPr lang="en-US" sz="2749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Automation (N8N)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741609" y="5532930"/>
            <a:ext cx="75076" cy="51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4"/>
              </a:lnSpc>
            </a:pPr>
            <a:r>
              <a:rPr lang="en-US" sz="21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485609" y="5102752"/>
            <a:ext cx="3702025" cy="86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3"/>
              </a:lnSpc>
            </a:pPr>
            <a:r>
              <a:rPr lang="en-US" sz="2749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Real-Time Tracking (WebSocket)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00493" y="5871067"/>
            <a:ext cx="75076" cy="61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7"/>
              </a:lnSpc>
            </a:pPr>
            <a:r>
              <a:rPr lang="en-US" sz="21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321108" y="5609130"/>
            <a:ext cx="3190742" cy="43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1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Sends SMS&amp; WhatsApp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321108" y="6056805"/>
            <a:ext cx="3604317" cy="1771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1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alerts, notifies emergency contacts and hospitals, triggers reverse emergency workflow.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485609" y="6052042"/>
            <a:ext cx="3060144" cy="43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1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Livetracking ofpatient,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485609" y="6499717"/>
            <a:ext cx="3028426" cy="133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sz="21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doctor, and ambulance simultaneously via WebSocket.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18288000" cy="1028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287000"/>
            </a:xfrm>
            <a:custGeom>
              <a:avLst/>
              <a:gdLst/>
              <a:ahLst/>
              <a:cxnLst/>
              <a:rect r="r" b="b" t="t" l="l"/>
              <a:pathLst>
                <a:path h="102870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7A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22" cy="514350"/>
            <a:chOff x="0" y="0"/>
            <a:chExt cx="2870962" cy="6858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90435" y="1396498"/>
            <a:ext cx="5791200" cy="57150"/>
            <a:chOff x="0" y="0"/>
            <a:chExt cx="5791200" cy="571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91200" cy="57150"/>
            </a:xfrm>
            <a:custGeom>
              <a:avLst/>
              <a:gdLst/>
              <a:ahLst/>
              <a:cxnLst/>
              <a:rect r="r" b="b" t="t" l="l"/>
              <a:pathLst>
                <a:path h="57150" w="5791200">
                  <a:moveTo>
                    <a:pt x="0" y="0"/>
                  </a:moveTo>
                  <a:lnTo>
                    <a:pt x="0" y="57150"/>
                  </a:lnTo>
                  <a:lnTo>
                    <a:pt x="892810" y="57150"/>
                  </a:lnTo>
                  <a:lnTo>
                    <a:pt x="892810" y="0"/>
                  </a:lnTo>
                  <a:close/>
                  <a:moveTo>
                    <a:pt x="1075309" y="0"/>
                  </a:moveTo>
                  <a:lnTo>
                    <a:pt x="1075309" y="57150"/>
                  </a:lnTo>
                  <a:lnTo>
                    <a:pt x="5791200" y="57150"/>
                  </a:lnTo>
                  <a:lnTo>
                    <a:pt x="57912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822169" y="4342257"/>
            <a:ext cx="8290836" cy="2753516"/>
          </a:xfrm>
          <a:custGeom>
            <a:avLst/>
            <a:gdLst/>
            <a:ahLst/>
            <a:cxnLst/>
            <a:rect r="r" b="b" t="t" l="l"/>
            <a:pathLst>
              <a:path h="2753516" w="8290836">
                <a:moveTo>
                  <a:pt x="0" y="0"/>
                </a:moveTo>
                <a:lnTo>
                  <a:pt x="8290837" y="0"/>
                </a:lnTo>
                <a:lnTo>
                  <a:pt x="8290837" y="2753516"/>
                </a:lnTo>
                <a:lnTo>
                  <a:pt x="0" y="27535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22169" y="1876177"/>
            <a:ext cx="8289579" cy="2400795"/>
          </a:xfrm>
          <a:custGeom>
            <a:avLst/>
            <a:gdLst/>
            <a:ahLst/>
            <a:cxnLst/>
            <a:rect r="r" b="b" t="t" l="l"/>
            <a:pathLst>
              <a:path h="2400795" w="8289579">
                <a:moveTo>
                  <a:pt x="0" y="0"/>
                </a:moveTo>
                <a:lnTo>
                  <a:pt x="8289579" y="0"/>
                </a:lnTo>
                <a:lnTo>
                  <a:pt x="8289579" y="2400796"/>
                </a:lnTo>
                <a:lnTo>
                  <a:pt x="0" y="24007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22169" y="7161057"/>
            <a:ext cx="8289579" cy="2400795"/>
          </a:xfrm>
          <a:custGeom>
            <a:avLst/>
            <a:gdLst/>
            <a:ahLst/>
            <a:cxnLst/>
            <a:rect r="r" b="b" t="t" l="l"/>
            <a:pathLst>
              <a:path h="2400795" w="8289579">
                <a:moveTo>
                  <a:pt x="0" y="0"/>
                </a:moveTo>
                <a:lnTo>
                  <a:pt x="8289579" y="0"/>
                </a:lnTo>
                <a:lnTo>
                  <a:pt x="8289579" y="2400795"/>
                </a:lnTo>
                <a:lnTo>
                  <a:pt x="0" y="24007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176490" y="1876177"/>
            <a:ext cx="8289579" cy="2400795"/>
          </a:xfrm>
          <a:custGeom>
            <a:avLst/>
            <a:gdLst/>
            <a:ahLst/>
            <a:cxnLst/>
            <a:rect r="r" b="b" t="t" l="l"/>
            <a:pathLst>
              <a:path h="2400795" w="8289579">
                <a:moveTo>
                  <a:pt x="0" y="0"/>
                </a:moveTo>
                <a:lnTo>
                  <a:pt x="8289579" y="0"/>
                </a:lnTo>
                <a:lnTo>
                  <a:pt x="8289579" y="2400796"/>
                </a:lnTo>
                <a:lnTo>
                  <a:pt x="0" y="24007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176490" y="7161057"/>
            <a:ext cx="8289579" cy="2400795"/>
          </a:xfrm>
          <a:custGeom>
            <a:avLst/>
            <a:gdLst/>
            <a:ahLst/>
            <a:cxnLst/>
            <a:rect r="r" b="b" t="t" l="l"/>
            <a:pathLst>
              <a:path h="2400795" w="8289579">
                <a:moveTo>
                  <a:pt x="0" y="0"/>
                </a:moveTo>
                <a:lnTo>
                  <a:pt x="8289579" y="0"/>
                </a:lnTo>
                <a:lnTo>
                  <a:pt x="8289579" y="2400795"/>
                </a:lnTo>
                <a:lnTo>
                  <a:pt x="0" y="240079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176490" y="4342257"/>
            <a:ext cx="8291084" cy="2753516"/>
          </a:xfrm>
          <a:custGeom>
            <a:avLst/>
            <a:gdLst/>
            <a:ahLst/>
            <a:cxnLst/>
            <a:rect r="r" b="b" t="t" l="l"/>
            <a:pathLst>
              <a:path h="2753516" w="8291084">
                <a:moveTo>
                  <a:pt x="0" y="0"/>
                </a:moveTo>
                <a:lnTo>
                  <a:pt x="8291084" y="0"/>
                </a:lnTo>
                <a:lnTo>
                  <a:pt x="8291084" y="2753516"/>
                </a:lnTo>
                <a:lnTo>
                  <a:pt x="0" y="275351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5201900" y="9688859"/>
            <a:ext cx="3086100" cy="598141"/>
            <a:chOff x="0" y="0"/>
            <a:chExt cx="3086100" cy="59814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86100" cy="598173"/>
            </a:xfrm>
            <a:custGeom>
              <a:avLst/>
              <a:gdLst/>
              <a:ahLst/>
              <a:cxnLst/>
              <a:rect r="r" b="b" t="t" l="l"/>
              <a:pathLst>
                <a:path h="598173" w="3086100">
                  <a:moveTo>
                    <a:pt x="0" y="0"/>
                  </a:moveTo>
                  <a:lnTo>
                    <a:pt x="0" y="598173"/>
                  </a:lnTo>
                  <a:lnTo>
                    <a:pt x="3086100" y="598173"/>
                  </a:lnTo>
                  <a:lnTo>
                    <a:pt x="3086100" y="0"/>
                  </a:lnTo>
                  <a:close/>
                </a:path>
              </a:pathLst>
            </a:custGeom>
            <a:solidFill>
              <a:srgbClr val="7A0000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890435" y="698202"/>
            <a:ext cx="5907024" cy="806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2"/>
              </a:lnSpc>
            </a:pPr>
            <a:r>
              <a:rPr lang="en-US" sz="4687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Impacts &amp; Benefits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9133" y="8284759"/>
            <a:ext cx="3220660" cy="450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Traffic Optimization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53044" y="8745474"/>
            <a:ext cx="64370" cy="41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18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39133" y="2999870"/>
            <a:ext cx="3394672" cy="450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Faster Response Time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13838" y="3460594"/>
            <a:ext cx="64370" cy="41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18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9133" y="5465959"/>
            <a:ext cx="4258466" cy="450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Accurate Location Tracking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59749" y="5926674"/>
            <a:ext cx="64370" cy="41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18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93453" y="5465959"/>
            <a:ext cx="3097263" cy="450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Better Coordination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535012" y="5926674"/>
            <a:ext cx="64370" cy="41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18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93453" y="8284759"/>
            <a:ext cx="3188913" cy="450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Instant Contact Alert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734084" y="8745474"/>
            <a:ext cx="64370" cy="41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18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493453" y="2999870"/>
            <a:ext cx="3670525" cy="450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312">
                <a:solidFill>
                  <a:srgbClr val="45424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Improved Survival Rate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352132" y="3460594"/>
            <a:ext cx="64370" cy="415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0"/>
              </a:lnSpc>
            </a:pPr>
            <a:r>
              <a:rPr lang="en-US" sz="18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39133" y="8831199"/>
            <a:ext cx="5976023" cy="329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Fastestroutescalculatedusing real-time traffic data.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39133" y="6012399"/>
            <a:ext cx="6591262" cy="329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Real-time,preciseGPStrackingofvictims and responders.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39133" y="3546319"/>
            <a:ext cx="7771219" cy="329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Dramaticallyreducesthetimefrom accident to emergency dispatch.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493453" y="8831199"/>
            <a:ext cx="6409830" cy="329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Emergencycontactsnotifiedautomatically and instantly.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93453" y="6002874"/>
            <a:ext cx="7012429" cy="33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Seamlesscommunicationbetween ambulances, hospitals, and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93453" y="6345774"/>
            <a:ext cx="1330785" cy="339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responders.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493453" y="3546319"/>
            <a:ext cx="7540714" cy="329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454240"/>
                </a:solidFill>
                <a:latin typeface="DM Sans"/>
                <a:ea typeface="DM Sans"/>
                <a:cs typeface="DM Sans"/>
                <a:sym typeface="DM Sans"/>
              </a:rPr>
              <a:t>Quickerinterventiondirectlyimproves accident survival outcomes.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20869" y="1972751"/>
            <a:ext cx="7217454" cy="7668073"/>
          </a:xfrm>
          <a:custGeom>
            <a:avLst/>
            <a:gdLst/>
            <a:ahLst/>
            <a:cxnLst/>
            <a:rect r="r" b="b" t="t" l="l"/>
            <a:pathLst>
              <a:path h="7668073" w="7217454">
                <a:moveTo>
                  <a:pt x="0" y="0"/>
                </a:moveTo>
                <a:lnTo>
                  <a:pt x="7217454" y="0"/>
                </a:lnTo>
                <a:lnTo>
                  <a:pt x="7217454" y="7668073"/>
                </a:lnTo>
                <a:lnTo>
                  <a:pt x="0" y="76680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21021" y="1661732"/>
            <a:ext cx="7216978" cy="57150"/>
            <a:chOff x="0" y="0"/>
            <a:chExt cx="7216978" cy="571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217034" cy="57150"/>
            </a:xfrm>
            <a:custGeom>
              <a:avLst/>
              <a:gdLst/>
              <a:ahLst/>
              <a:cxnLst/>
              <a:rect r="r" b="b" t="t" l="l"/>
              <a:pathLst>
                <a:path h="57150" w="7217034">
                  <a:moveTo>
                    <a:pt x="0" y="0"/>
                  </a:moveTo>
                  <a:lnTo>
                    <a:pt x="7217034" y="0"/>
                  </a:lnTo>
                  <a:lnTo>
                    <a:pt x="7217034" y="57150"/>
                  </a:lnTo>
                  <a:lnTo>
                    <a:pt x="0" y="5715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5121021" y="1317365"/>
            <a:ext cx="7361253" cy="458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b="true" sz="5088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WORKING FLOWCHART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11586" y="1887236"/>
            <a:ext cx="72085" cy="59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49355" y="5598519"/>
            <a:ext cx="331575" cy="827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7"/>
              </a:lnSpc>
            </a:pPr>
            <a:r>
              <a:rPr lang="en-US" sz="199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No</a:t>
            </a:r>
          </a:p>
          <a:p>
            <a:pPr algn="r">
              <a:lnSpc>
                <a:spcPts val="2797"/>
              </a:lnSpc>
            </a:pPr>
            <a:r>
              <a:rPr lang="en-US" sz="1998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↓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192795" y="2378221"/>
            <a:ext cx="1940385" cy="27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2"/>
              </a:lnSpc>
            </a:pPr>
            <a:r>
              <a:rPr lang="en-US" sz="199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[ Vehicle/User ]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78814" y="2617403"/>
            <a:ext cx="272034" cy="283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9"/>
              </a:lnSpc>
            </a:pPr>
            <a:r>
              <a:rPr lang="en-US" sz="2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↓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22806" y="4696616"/>
            <a:ext cx="2695099" cy="42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5"/>
              </a:lnSpc>
            </a:pPr>
            <a:r>
              <a:rPr lang="en-US" sz="199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[ AccidentDetecte d? ]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356578" y="5112953"/>
            <a:ext cx="272034" cy="359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1"/>
              </a:lnSpc>
            </a:pPr>
            <a:r>
              <a:rPr lang="en-US" sz="2100" spc="168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↓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88968" y="5112953"/>
            <a:ext cx="272034" cy="359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1"/>
              </a:lnSpc>
            </a:pPr>
            <a:r>
              <a:rPr lang="en-US" sz="2100" spc="168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↓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40812" y="7246772"/>
            <a:ext cx="3066250" cy="378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7"/>
              </a:lnSpc>
            </a:pPr>
            <a:r>
              <a:rPr lang="en-US" sz="199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[ G PS LocationAttach ed ]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69702" y="6401591"/>
            <a:ext cx="3619395" cy="339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7"/>
              </a:lnSpc>
            </a:pPr>
            <a:r>
              <a:rPr lang="en-US" sz="199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[ Send Alert](Norm al Driving)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287844" y="3858416"/>
            <a:ext cx="3786292" cy="440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199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[ Microcontroller/Syste m U nit ]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878814" y="4284278"/>
            <a:ext cx="272034" cy="330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3"/>
              </a:lnSpc>
            </a:pPr>
            <a:r>
              <a:rPr lang="en-US" sz="2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↓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97792" y="8070894"/>
            <a:ext cx="4174007" cy="411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7"/>
              </a:lnSpc>
            </a:pPr>
            <a:r>
              <a:rPr lang="en-US" sz="199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[ Mess age Sent via G SM / Intern et ]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63416" y="3029741"/>
            <a:ext cx="4244140" cy="543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99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[ Sens ors (GPS+Accide nt Senso r) ]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78814" y="3455603"/>
            <a:ext cx="272034" cy="302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6"/>
              </a:lnSpc>
            </a:pPr>
            <a:r>
              <a:rPr lang="en-US" sz="21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↓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737425" y="7364339"/>
            <a:ext cx="272034" cy="679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↓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737425" y="8188462"/>
            <a:ext cx="272034" cy="712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↓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86453" y="2254396"/>
            <a:ext cx="68599" cy="39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199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285951" y="2654294"/>
            <a:ext cx="258861" cy="400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1998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↓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771115" y="3078518"/>
            <a:ext cx="68599" cy="39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199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85951" y="3478416"/>
            <a:ext cx="258861" cy="400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1998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↓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15542" y="3902650"/>
            <a:ext cx="68599" cy="396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199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85951" y="4302547"/>
            <a:ext cx="258861" cy="400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1998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↓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789270" y="4726772"/>
            <a:ext cx="327536" cy="87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19"/>
              </a:lnSpc>
            </a:pPr>
            <a:r>
              <a:rPr lang="en-US" sz="199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  <a:p>
            <a:pPr algn="r">
              <a:lnSpc>
                <a:spcPts val="3219"/>
              </a:lnSpc>
            </a:pPr>
            <a:r>
              <a:rPr lang="en-US" sz="199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↓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250612" y="5496716"/>
            <a:ext cx="1271597" cy="929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219"/>
              </a:lnSpc>
            </a:pPr>
            <a:r>
              <a:rPr lang="en-US" sz="199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Yes N o </a:t>
            </a:r>
          </a:p>
          <a:p>
            <a:pPr algn="r">
              <a:lnSpc>
                <a:spcPts val="3383"/>
              </a:lnSpc>
            </a:pP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↓ ↓ ↓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737425" y="6561982"/>
            <a:ext cx="692944" cy="959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995"/>
              </a:lnSpc>
            </a:pPr>
            <a:r>
              <a:rPr lang="en-US" sz="1998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↓ ↓</a:t>
            </a:r>
          </a:p>
          <a:p>
            <a:pPr algn="r">
              <a:lnSpc>
                <a:spcPts val="1352"/>
              </a:lnSpc>
            </a:pPr>
            <a:r>
              <a:rPr lang="en-US" sz="199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581093" y="5174294"/>
            <a:ext cx="258861" cy="35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7"/>
              </a:lnSpc>
            </a:pPr>
            <a:r>
              <a:rPr lang="en-US" sz="1998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↓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51553" y="7618095"/>
            <a:ext cx="258861" cy="381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1998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↓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51553" y="8470792"/>
            <a:ext cx="258861" cy="35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3"/>
              </a:lnSpc>
            </a:pPr>
            <a:r>
              <a:rPr lang="en-US" sz="1998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↓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774116" y="1887236"/>
            <a:ext cx="72085" cy="59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173660" y="5316236"/>
            <a:ext cx="496843" cy="59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2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Yes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18288000" cy="10287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10287000"/>
            </a:xfrm>
            <a:custGeom>
              <a:avLst/>
              <a:gdLst/>
              <a:ahLst/>
              <a:cxnLst/>
              <a:rect r="r" b="b" t="t" l="l"/>
              <a:pathLst>
                <a:path h="102870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028700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7A000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22" cy="514350"/>
            <a:chOff x="0" y="0"/>
            <a:chExt cx="2870962" cy="6858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8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24538" y="2553119"/>
            <a:ext cx="8341271" cy="6736309"/>
          </a:xfrm>
          <a:custGeom>
            <a:avLst/>
            <a:gdLst/>
            <a:ahLst/>
            <a:cxnLst/>
            <a:rect r="r" b="b" t="t" l="l"/>
            <a:pathLst>
              <a:path h="6736309" w="8341271">
                <a:moveTo>
                  <a:pt x="0" y="0"/>
                </a:moveTo>
                <a:lnTo>
                  <a:pt x="8341271" y="0"/>
                </a:lnTo>
                <a:lnTo>
                  <a:pt x="8341271" y="6736309"/>
                </a:lnTo>
                <a:lnTo>
                  <a:pt x="0" y="67363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92238" y="1880892"/>
            <a:ext cx="8142084" cy="66675"/>
            <a:chOff x="0" y="0"/>
            <a:chExt cx="8142084" cy="666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42092" cy="66675"/>
            </a:xfrm>
            <a:custGeom>
              <a:avLst/>
              <a:gdLst/>
              <a:ahLst/>
              <a:cxnLst/>
              <a:rect r="r" b="b" t="t" l="l"/>
              <a:pathLst>
                <a:path h="66675" w="8142092">
                  <a:moveTo>
                    <a:pt x="0" y="0"/>
                  </a:moveTo>
                  <a:lnTo>
                    <a:pt x="0" y="66675"/>
                  </a:lnTo>
                  <a:lnTo>
                    <a:pt x="7266936" y="66675"/>
                  </a:lnTo>
                  <a:lnTo>
                    <a:pt x="7266936" y="0"/>
                  </a:lnTo>
                  <a:close/>
                  <a:moveTo>
                    <a:pt x="7481566" y="0"/>
                  </a:moveTo>
                  <a:lnTo>
                    <a:pt x="7481566" y="66675"/>
                  </a:lnTo>
                  <a:lnTo>
                    <a:pt x="8142092" y="66675"/>
                  </a:lnTo>
                  <a:lnTo>
                    <a:pt x="814209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542164" y="3490360"/>
            <a:ext cx="555622" cy="552202"/>
            <a:chOff x="0" y="0"/>
            <a:chExt cx="555625" cy="5522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0" y="64643"/>
              <a:ext cx="428625" cy="422912"/>
            </a:xfrm>
            <a:custGeom>
              <a:avLst/>
              <a:gdLst/>
              <a:ahLst/>
              <a:cxnLst/>
              <a:rect r="r" b="b" t="t" l="l"/>
              <a:pathLst>
                <a:path h="422912" w="428625">
                  <a:moveTo>
                    <a:pt x="247777" y="0"/>
                  </a:moveTo>
                  <a:cubicBezTo>
                    <a:pt x="243205" y="0"/>
                    <a:pt x="238760" y="1651"/>
                    <a:pt x="235331" y="5080"/>
                  </a:cubicBezTo>
                  <a:cubicBezTo>
                    <a:pt x="228473" y="11938"/>
                    <a:pt x="228473" y="23115"/>
                    <a:pt x="235331" y="29973"/>
                  </a:cubicBezTo>
                  <a:lnTo>
                    <a:pt x="399161" y="193804"/>
                  </a:lnTo>
                  <a:lnTo>
                    <a:pt x="0" y="193804"/>
                  </a:lnTo>
                  <a:lnTo>
                    <a:pt x="0" y="229110"/>
                  </a:lnTo>
                  <a:lnTo>
                    <a:pt x="399161" y="229110"/>
                  </a:lnTo>
                  <a:lnTo>
                    <a:pt x="235331" y="392941"/>
                  </a:lnTo>
                  <a:cubicBezTo>
                    <a:pt x="228473" y="399799"/>
                    <a:pt x="228473" y="410975"/>
                    <a:pt x="235331" y="417833"/>
                  </a:cubicBezTo>
                  <a:cubicBezTo>
                    <a:pt x="238760" y="421262"/>
                    <a:pt x="243205" y="422913"/>
                    <a:pt x="247777" y="422913"/>
                  </a:cubicBezTo>
                  <a:cubicBezTo>
                    <a:pt x="252349" y="422913"/>
                    <a:pt x="256794" y="421262"/>
                    <a:pt x="260223" y="417833"/>
                  </a:cubicBezTo>
                  <a:lnTo>
                    <a:pt x="428625" y="249430"/>
                  </a:lnTo>
                  <a:lnTo>
                    <a:pt x="428625" y="173483"/>
                  </a:lnTo>
                  <a:lnTo>
                    <a:pt x="260223" y="5080"/>
                  </a:lnTo>
                  <a:cubicBezTo>
                    <a:pt x="256794" y="1651"/>
                    <a:pt x="252349" y="0"/>
                    <a:pt x="24777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63500"/>
              <a:ext cx="425196" cy="425199"/>
            </a:xfrm>
            <a:custGeom>
              <a:avLst/>
              <a:gdLst/>
              <a:ahLst/>
              <a:cxnLst/>
              <a:rect r="r" b="b" t="t" l="l"/>
              <a:pathLst>
                <a:path h="425199" w="425196">
                  <a:moveTo>
                    <a:pt x="0" y="425199"/>
                  </a:moveTo>
                  <a:lnTo>
                    <a:pt x="425196" y="425199"/>
                  </a:lnTo>
                  <a:lnTo>
                    <a:pt x="425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542164" y="4964659"/>
            <a:ext cx="555622" cy="552202"/>
            <a:chOff x="0" y="0"/>
            <a:chExt cx="555625" cy="5522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0" y="64643"/>
              <a:ext cx="428625" cy="422912"/>
            </a:xfrm>
            <a:custGeom>
              <a:avLst/>
              <a:gdLst/>
              <a:ahLst/>
              <a:cxnLst/>
              <a:rect r="r" b="b" t="t" l="l"/>
              <a:pathLst>
                <a:path h="422912" w="428625">
                  <a:moveTo>
                    <a:pt x="247777" y="0"/>
                  </a:moveTo>
                  <a:cubicBezTo>
                    <a:pt x="243205" y="0"/>
                    <a:pt x="238760" y="1651"/>
                    <a:pt x="235331" y="5080"/>
                  </a:cubicBezTo>
                  <a:cubicBezTo>
                    <a:pt x="228473" y="11938"/>
                    <a:pt x="228473" y="23115"/>
                    <a:pt x="235331" y="29973"/>
                  </a:cubicBezTo>
                  <a:lnTo>
                    <a:pt x="399161" y="193804"/>
                  </a:lnTo>
                  <a:lnTo>
                    <a:pt x="0" y="193804"/>
                  </a:lnTo>
                  <a:lnTo>
                    <a:pt x="0" y="229110"/>
                  </a:lnTo>
                  <a:lnTo>
                    <a:pt x="399161" y="229110"/>
                  </a:lnTo>
                  <a:lnTo>
                    <a:pt x="235331" y="392941"/>
                  </a:lnTo>
                  <a:cubicBezTo>
                    <a:pt x="228473" y="399799"/>
                    <a:pt x="228473" y="410975"/>
                    <a:pt x="235331" y="417833"/>
                  </a:cubicBezTo>
                  <a:cubicBezTo>
                    <a:pt x="238760" y="421262"/>
                    <a:pt x="243205" y="422913"/>
                    <a:pt x="247777" y="422913"/>
                  </a:cubicBezTo>
                  <a:cubicBezTo>
                    <a:pt x="252349" y="422913"/>
                    <a:pt x="256794" y="421262"/>
                    <a:pt x="260223" y="417833"/>
                  </a:cubicBezTo>
                  <a:lnTo>
                    <a:pt x="428625" y="249430"/>
                  </a:lnTo>
                  <a:lnTo>
                    <a:pt x="428625" y="173483"/>
                  </a:lnTo>
                  <a:lnTo>
                    <a:pt x="260223" y="5080"/>
                  </a:lnTo>
                  <a:cubicBezTo>
                    <a:pt x="256794" y="1651"/>
                    <a:pt x="252349" y="0"/>
                    <a:pt x="24777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3500" y="63500"/>
              <a:ext cx="425196" cy="425199"/>
            </a:xfrm>
            <a:custGeom>
              <a:avLst/>
              <a:gdLst/>
              <a:ahLst/>
              <a:cxnLst/>
              <a:rect r="r" b="b" t="t" l="l"/>
              <a:pathLst>
                <a:path h="425199" w="425196">
                  <a:moveTo>
                    <a:pt x="0" y="425199"/>
                  </a:moveTo>
                  <a:lnTo>
                    <a:pt x="425196" y="425199"/>
                  </a:lnTo>
                  <a:lnTo>
                    <a:pt x="425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542164" y="6438948"/>
            <a:ext cx="555622" cy="552202"/>
            <a:chOff x="0" y="0"/>
            <a:chExt cx="555625" cy="5522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0" y="64643"/>
              <a:ext cx="428625" cy="422912"/>
            </a:xfrm>
            <a:custGeom>
              <a:avLst/>
              <a:gdLst/>
              <a:ahLst/>
              <a:cxnLst/>
              <a:rect r="r" b="b" t="t" l="l"/>
              <a:pathLst>
                <a:path h="422912" w="428625">
                  <a:moveTo>
                    <a:pt x="247777" y="0"/>
                  </a:moveTo>
                  <a:cubicBezTo>
                    <a:pt x="243205" y="0"/>
                    <a:pt x="238760" y="1651"/>
                    <a:pt x="235331" y="5080"/>
                  </a:cubicBezTo>
                  <a:cubicBezTo>
                    <a:pt x="228473" y="11938"/>
                    <a:pt x="228473" y="23115"/>
                    <a:pt x="235331" y="29973"/>
                  </a:cubicBezTo>
                  <a:lnTo>
                    <a:pt x="399161" y="193804"/>
                  </a:lnTo>
                  <a:lnTo>
                    <a:pt x="0" y="193804"/>
                  </a:lnTo>
                  <a:lnTo>
                    <a:pt x="0" y="229110"/>
                  </a:lnTo>
                  <a:lnTo>
                    <a:pt x="399161" y="229110"/>
                  </a:lnTo>
                  <a:lnTo>
                    <a:pt x="235331" y="392941"/>
                  </a:lnTo>
                  <a:cubicBezTo>
                    <a:pt x="228473" y="399799"/>
                    <a:pt x="228473" y="410975"/>
                    <a:pt x="235331" y="417833"/>
                  </a:cubicBezTo>
                  <a:cubicBezTo>
                    <a:pt x="238760" y="421262"/>
                    <a:pt x="243205" y="422913"/>
                    <a:pt x="247777" y="422913"/>
                  </a:cubicBezTo>
                  <a:cubicBezTo>
                    <a:pt x="252349" y="422913"/>
                    <a:pt x="256794" y="421262"/>
                    <a:pt x="260223" y="417833"/>
                  </a:cubicBezTo>
                  <a:lnTo>
                    <a:pt x="428625" y="249430"/>
                  </a:lnTo>
                  <a:lnTo>
                    <a:pt x="428625" y="173483"/>
                  </a:lnTo>
                  <a:lnTo>
                    <a:pt x="260223" y="5080"/>
                  </a:lnTo>
                  <a:cubicBezTo>
                    <a:pt x="256794" y="1651"/>
                    <a:pt x="252349" y="0"/>
                    <a:pt x="24777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3500" y="63500"/>
              <a:ext cx="425196" cy="425199"/>
            </a:xfrm>
            <a:custGeom>
              <a:avLst/>
              <a:gdLst/>
              <a:ahLst/>
              <a:cxnLst/>
              <a:rect r="r" b="b" t="t" l="l"/>
              <a:pathLst>
                <a:path h="425199" w="425196">
                  <a:moveTo>
                    <a:pt x="0" y="425199"/>
                  </a:moveTo>
                  <a:lnTo>
                    <a:pt x="425196" y="425199"/>
                  </a:lnTo>
                  <a:lnTo>
                    <a:pt x="425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542164" y="7870669"/>
            <a:ext cx="555622" cy="552202"/>
            <a:chOff x="0" y="0"/>
            <a:chExt cx="555625" cy="5522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0" y="64643"/>
              <a:ext cx="428625" cy="422912"/>
            </a:xfrm>
            <a:custGeom>
              <a:avLst/>
              <a:gdLst/>
              <a:ahLst/>
              <a:cxnLst/>
              <a:rect r="r" b="b" t="t" l="l"/>
              <a:pathLst>
                <a:path h="422912" w="428625">
                  <a:moveTo>
                    <a:pt x="247777" y="0"/>
                  </a:moveTo>
                  <a:cubicBezTo>
                    <a:pt x="243205" y="0"/>
                    <a:pt x="238760" y="1651"/>
                    <a:pt x="235331" y="5080"/>
                  </a:cubicBezTo>
                  <a:cubicBezTo>
                    <a:pt x="228473" y="11938"/>
                    <a:pt x="228473" y="23115"/>
                    <a:pt x="235331" y="29973"/>
                  </a:cubicBezTo>
                  <a:lnTo>
                    <a:pt x="399161" y="193804"/>
                  </a:lnTo>
                  <a:lnTo>
                    <a:pt x="0" y="193804"/>
                  </a:lnTo>
                  <a:lnTo>
                    <a:pt x="0" y="229110"/>
                  </a:lnTo>
                  <a:lnTo>
                    <a:pt x="399161" y="229110"/>
                  </a:lnTo>
                  <a:lnTo>
                    <a:pt x="235331" y="392941"/>
                  </a:lnTo>
                  <a:cubicBezTo>
                    <a:pt x="228473" y="399799"/>
                    <a:pt x="228473" y="410975"/>
                    <a:pt x="235331" y="417833"/>
                  </a:cubicBezTo>
                  <a:cubicBezTo>
                    <a:pt x="238760" y="421262"/>
                    <a:pt x="243205" y="422913"/>
                    <a:pt x="247777" y="422913"/>
                  </a:cubicBezTo>
                  <a:cubicBezTo>
                    <a:pt x="252349" y="422913"/>
                    <a:pt x="256794" y="421262"/>
                    <a:pt x="260223" y="417833"/>
                  </a:cubicBezTo>
                  <a:lnTo>
                    <a:pt x="428625" y="249430"/>
                  </a:lnTo>
                  <a:lnTo>
                    <a:pt x="428625" y="173483"/>
                  </a:lnTo>
                  <a:lnTo>
                    <a:pt x="260223" y="5080"/>
                  </a:lnTo>
                  <a:cubicBezTo>
                    <a:pt x="256794" y="1651"/>
                    <a:pt x="252349" y="0"/>
                    <a:pt x="24777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63500" y="63500"/>
              <a:ext cx="425196" cy="425199"/>
            </a:xfrm>
            <a:custGeom>
              <a:avLst/>
              <a:gdLst/>
              <a:ahLst/>
              <a:cxnLst/>
              <a:rect r="r" b="b" t="t" l="l"/>
              <a:pathLst>
                <a:path h="425199" w="425196">
                  <a:moveTo>
                    <a:pt x="0" y="425199"/>
                  </a:moveTo>
                  <a:lnTo>
                    <a:pt x="425196" y="425199"/>
                  </a:lnTo>
                  <a:lnTo>
                    <a:pt x="425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5201900" y="9545907"/>
            <a:ext cx="3085967" cy="741093"/>
            <a:chOff x="0" y="0"/>
            <a:chExt cx="3085960" cy="74109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85968" cy="741046"/>
            </a:xfrm>
            <a:custGeom>
              <a:avLst/>
              <a:gdLst/>
              <a:ahLst/>
              <a:cxnLst/>
              <a:rect r="r" b="b" t="t" l="l"/>
              <a:pathLst>
                <a:path h="741046" w="3085968">
                  <a:moveTo>
                    <a:pt x="0" y="0"/>
                  </a:moveTo>
                  <a:lnTo>
                    <a:pt x="0" y="741046"/>
                  </a:lnTo>
                  <a:lnTo>
                    <a:pt x="3085968" y="741046"/>
                  </a:lnTo>
                  <a:lnTo>
                    <a:pt x="3085968" y="0"/>
                  </a:lnTo>
                  <a:close/>
                </a:path>
              </a:pathLst>
            </a:custGeom>
            <a:solidFill>
              <a:srgbClr val="7A0000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92238" y="1056370"/>
            <a:ext cx="8304828" cy="959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6"/>
              </a:lnSpc>
            </a:pPr>
            <a:r>
              <a:rPr lang="en-US" sz="5562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Vision &amp; Future Scope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71562" y="2708405"/>
            <a:ext cx="7726232" cy="2451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749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Our Vision</a:t>
            </a:r>
          </a:p>
          <a:p>
            <a:pPr algn="l">
              <a:lnSpc>
                <a:spcPts val="3525"/>
              </a:lnSpc>
            </a:pPr>
            <a:r>
              <a:rPr lang="en-US" sz="218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Reduce accident-related deaths through </a:t>
            </a:r>
            <a:r>
              <a:rPr lang="en-US" b="true" sz="218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quick, intelligent action</a:t>
            </a:r>
            <a:r>
              <a:rPr lang="en-US" sz="2186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— connecting people, ambulances, and hospitals instantly to build a safer, more responsive transportation system.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99397" y="2708405"/>
            <a:ext cx="2425998" cy="479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749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Future Scope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420798" y="4871247"/>
            <a:ext cx="5519252" cy="883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b="true" sz="218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Smart device support</a:t>
            </a:r>
            <a:r>
              <a:rPr lang="en-US" sz="21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— smartwatches &amp; smartphones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420798" y="6407448"/>
            <a:ext cx="5836596" cy="391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b="true" sz="218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Real-time hospital bed availability</a:t>
            </a:r>
            <a:r>
              <a:rPr lang="en-US" sz="21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tracking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420798" y="7839170"/>
            <a:ext cx="6384065" cy="391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b="true" sz="218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Reduced local dependency</a:t>
            </a:r>
            <a:r>
              <a:rPr lang="en-US" sz="21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in critical situations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420798" y="3458861"/>
            <a:ext cx="7016629" cy="391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1"/>
              </a:lnSpc>
            </a:pPr>
            <a:r>
              <a:rPr lang="en-US" b="true" sz="2186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AI integration</a:t>
            </a:r>
            <a:r>
              <a:rPr lang="en-US" sz="218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for accident prediction and prevention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7A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0869" y="3765995"/>
            <a:ext cx="16230600" cy="2288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32"/>
              </a:lnSpc>
              <a:spcBef>
                <a:spcPct val="0"/>
              </a:spcBef>
            </a:pPr>
            <a:r>
              <a:rPr lang="en-US" sz="12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DAHHFe8LI_w</dc:identifier>
  <dcterms:modified xsi:type="dcterms:W3CDTF">2011-08-01T06:04:30Z</dcterms:modified>
  <cp:revision>1</cp:revision>
  <dc:title>Intelligent Emergency Response and Accident Alert System</dc:title>
</cp:coreProperties>
</file>